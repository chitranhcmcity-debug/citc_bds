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80" autoAdjust="0"/>
    <p:restoredTop sz="94660"/>
  </p:normalViewPr>
  <p:slideViewPr>
    <p:cSldViewPr snapToGrid="0">
      <p:cViewPr varScale="1">
        <p:scale>
          <a:sx n="78" d="100"/>
          <a:sy n="78" d="100"/>
        </p:scale>
        <p:origin x="60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623483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Kính chào thầy cô và các bạn. Hôm nay em xin phép trình bày đề tài đồ án môn học của mình: Xây dựng hệ thống quản lý và đăng tin bất động sản TimNhaDat.site. Đây là một website tích hợp đầy đủ từ luồng thanh toán tự động cho đến trợ lý ảo AI để giải quyết các vấn đề thực tế của thị trường nhà đất hiện nay.</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Bài thuyết trình của em sẽ đi qua 4 phần chính: đầu tiên là lý do chọn đề tài và công nghệ; tiếp theo là cách thiết kế hệ thống; thứ ba là phần demo trực quan các tính năng cốt lõi và cuối cùng là đánh giá kết quả đạt được cùng hướng mở rộng.</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Về tổng quan, TimNhaDat.site không chỉ dừng lại ở việc đăng tin thông thường. Chúng em tập trung giải quyết bài toán trải nghiệm người dùng bằng cách tích hợp cổng thanh toán thực tế và Trợ lý AI để tối ưu hóa quy trình tư vấn.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Mục tiêu lớn nhất của đề tài là giảm thiểu thời gian chờ đợi của người dùng. Mọi giao dịch nạp tiền mua gói VIP hay việc hỗ trợ trả lời câu hỏi đều được tự động hóa hoàn toàn nhờ vào hệ thống ví điện tử và AI chatbot.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Về mặt nội dung, hệ thống phân chia rõ vai trò: Thành viên được chủ động quản lý tin đăng của mình qua các Popup trực quan, còn Admin sở hữu bộ công cụ quản lý CRM, tài chính và hệ thống báo cáo xuất file Excel/PDF định dạng chuyên nghiệp.</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Hệ thống sử dụng các công nghệ phổ biến nhưng rất mạnh mẽ. Đặc biệt, phần cơ sở dữ liệu MySQL được xử lý chặt chẽ bằng Transaction để đảm bảo tính toàn vẹn dữ liệu khi người dùng thực hiện giao dịch nạp tiền hay trừ lượt UP tin.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Để phát triển dự án này, em sử dụng bộ công cụ hỗ trợ chuẩn công nghiệp: Laragon để giả lập máy chủ local, HeidiSQL để quản lý database và Git để quản lý các phiên bản cập nhật của mã nguồn.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Bước sang phần Phân tích thiết kế, em đã hệ thống hóa các luồng nghiệp vụ phức tạp thành các sơ đồ logic để đảm bảo backend xử lý chính xác và giao diện frontend thân thiện nhất với người dùng.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Ở đây, em xin nhấn mạnh luồng UP tin và thanh toán VIP. Mỗi khi người dùng bấm 'UP tin', hệ thống sẽ kích hoạt một transaction kiểm tra số dư lượt UP, trừ lượt, cập nhật thời gian làm mới và ghi lịch sử. Nếu bất kỳ bước nào lỗi, hệ thống sẽ rollback ngay lập tức để tránh mất lượt UP của khách.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Đây là các điểm nhấn của dự án. Giao dịch ví điện tử thông qua cổng PayOS diễn ra hoàn toàn tự động, nhanh chóng và chính xác. Đồng thời, phần báo cáo PDF/Excel được định dạng rất chuẩn mực, sẵn sàng cho việc ký duyệt trong môi trường doanh nghiệp thực tế.</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Sơ đồ Use Case này thể hiện rõ mối liên kết giữa 3 nhóm đối tượng sử dụng hệ thống. Admin sẽ đóng vai trò kiểm soát tài chính và phê duyệt, trong khi Thành viên tương tác trực tiếp với các tính năng tạo ra doanh thu cho website.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Sau quá trình nghiên cứu và thực hiện, đồ án đã hoàn thành các mục tiêu ban đầu. Tuy nhiên, vẫn còn một số điểm cần tối ưu thêm mà chúng em đã vạch rõ lộ trình giải quyết trong tương lai.</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Những kết quả lớn nhất chúng em đạt được là một sản phẩm thực tế chạy rất ổn định. Chúng em cũng tự hào khi xây dựng được tính năng lưu lại dữ liệu form khi nhập lỗi - một chi tiết nhỏ nhưng giúp trải nghiệm người dùng tăng lên rất nhiều.</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Bên cạnh đó, dự án vẫn có hạn chế nhỏ là hệ thống thông báo mới chỉ dừng lại ở Email OTP và Email báo duyệt tin, chưa tích hợp được đẩy thông báo thời gian thực trực tiếp trên màn hình thiết bị của người dùng.</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Trong tương lai, hướng đi tiếp theo của nhóm là hoàn thiện 100% việc chuyển đổi sang Laravel, nâng cấp chatbot AI thành một hệ thống gợi ý bất động sản cá nhân hóa và phát triển phiên bản Mobile App tích hợp định vị GPS. Em xin chân thành cảm ơn thầy cô đã lắng nghe.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1DA689-9838-E2B0-E4FB-1BC250B0B9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0928661-E691-175A-5F23-FA16D93616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EBB122-14E8-CFCE-C032-F3C6E6C5F034}"/>
              </a:ext>
            </a:extLst>
          </p:cNvPr>
          <p:cNvSpPr>
            <a:spLocks noGrp="1"/>
          </p:cNvSpPr>
          <p:nvPr>
            <p:ph type="dt" sz="half" idx="10"/>
          </p:nvPr>
        </p:nvSpPr>
        <p:spPr/>
        <p:txBody>
          <a:bodyPr/>
          <a:lstStyle/>
          <a:p>
            <a:fld id="{5BECB538-5B19-4911-A77A-302A45B2CB68}" type="datetimeFigureOut">
              <a:rPr lang="en-US" smtClean="0"/>
              <a:t>14/07/2026</a:t>
            </a:fld>
            <a:endParaRPr lang="en-US"/>
          </a:p>
        </p:txBody>
      </p:sp>
      <p:sp>
        <p:nvSpPr>
          <p:cNvPr id="5" name="Footer Placeholder 4">
            <a:extLst>
              <a:ext uri="{FF2B5EF4-FFF2-40B4-BE49-F238E27FC236}">
                <a16:creationId xmlns:a16="http://schemas.microsoft.com/office/drawing/2014/main" id="{C1161D71-9A89-9BBC-D9E8-38292169FE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AF0B71-5943-9D08-C06F-A65266D2F329}"/>
              </a:ext>
            </a:extLst>
          </p:cNvPr>
          <p:cNvSpPr>
            <a:spLocks noGrp="1"/>
          </p:cNvSpPr>
          <p:nvPr>
            <p:ph type="sldNum" sz="quarter" idx="12"/>
          </p:nvPr>
        </p:nvSpPr>
        <p:spPr/>
        <p:txBody>
          <a:bodyPr/>
          <a:lstStyle/>
          <a:p>
            <a:fld id="{0D878DC8-FEFF-4029-AA90-C8E5B8B0A54A}" type="slidenum">
              <a:rPr lang="en-US" smtClean="0"/>
              <a:t>‹#›</a:t>
            </a:fld>
            <a:endParaRPr lang="en-US"/>
          </a:p>
        </p:txBody>
      </p:sp>
    </p:spTree>
    <p:extLst>
      <p:ext uri="{BB962C8B-B14F-4D97-AF65-F5344CB8AC3E}">
        <p14:creationId xmlns:p14="http://schemas.microsoft.com/office/powerpoint/2010/main" val="1923851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048ABC-09D2-D81F-A1A2-C736EC61C03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AAB474-0BA9-9B89-45A4-BDD1F2F1BE7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74440E-4523-E58F-82CC-0361F9C04F39}"/>
              </a:ext>
            </a:extLst>
          </p:cNvPr>
          <p:cNvSpPr>
            <a:spLocks noGrp="1"/>
          </p:cNvSpPr>
          <p:nvPr>
            <p:ph type="dt" sz="half" idx="10"/>
          </p:nvPr>
        </p:nvSpPr>
        <p:spPr/>
        <p:txBody>
          <a:bodyPr/>
          <a:lstStyle/>
          <a:p>
            <a:fld id="{5BECB538-5B19-4911-A77A-302A45B2CB68}" type="datetimeFigureOut">
              <a:rPr lang="en-US" smtClean="0"/>
              <a:t>14/07/2026</a:t>
            </a:fld>
            <a:endParaRPr lang="en-US"/>
          </a:p>
        </p:txBody>
      </p:sp>
      <p:sp>
        <p:nvSpPr>
          <p:cNvPr id="5" name="Footer Placeholder 4">
            <a:extLst>
              <a:ext uri="{FF2B5EF4-FFF2-40B4-BE49-F238E27FC236}">
                <a16:creationId xmlns:a16="http://schemas.microsoft.com/office/drawing/2014/main" id="{5A0A5158-4386-0330-D9AA-DB863A00B4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B7F8E5A-706C-C5DE-7D6C-A4608880CE00}"/>
              </a:ext>
            </a:extLst>
          </p:cNvPr>
          <p:cNvSpPr>
            <a:spLocks noGrp="1"/>
          </p:cNvSpPr>
          <p:nvPr>
            <p:ph type="sldNum" sz="quarter" idx="12"/>
          </p:nvPr>
        </p:nvSpPr>
        <p:spPr/>
        <p:txBody>
          <a:bodyPr/>
          <a:lstStyle/>
          <a:p>
            <a:fld id="{0D878DC8-FEFF-4029-AA90-C8E5B8B0A54A}" type="slidenum">
              <a:rPr lang="en-US" smtClean="0"/>
              <a:t>‹#›</a:t>
            </a:fld>
            <a:endParaRPr lang="en-US"/>
          </a:p>
        </p:txBody>
      </p:sp>
    </p:spTree>
    <p:extLst>
      <p:ext uri="{BB962C8B-B14F-4D97-AF65-F5344CB8AC3E}">
        <p14:creationId xmlns:p14="http://schemas.microsoft.com/office/powerpoint/2010/main" val="2762045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16E970-67D4-1EFE-238B-C7049461E0A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C9BB825-1876-5794-1562-0E883E4A568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D5A8C0-341E-D1AA-0736-CA0437638DF2}"/>
              </a:ext>
            </a:extLst>
          </p:cNvPr>
          <p:cNvSpPr>
            <a:spLocks noGrp="1"/>
          </p:cNvSpPr>
          <p:nvPr>
            <p:ph type="dt" sz="half" idx="10"/>
          </p:nvPr>
        </p:nvSpPr>
        <p:spPr/>
        <p:txBody>
          <a:bodyPr/>
          <a:lstStyle/>
          <a:p>
            <a:fld id="{5BECB538-5B19-4911-A77A-302A45B2CB68}" type="datetimeFigureOut">
              <a:rPr lang="en-US" smtClean="0"/>
              <a:t>14/07/2026</a:t>
            </a:fld>
            <a:endParaRPr lang="en-US"/>
          </a:p>
        </p:txBody>
      </p:sp>
      <p:sp>
        <p:nvSpPr>
          <p:cNvPr id="5" name="Footer Placeholder 4">
            <a:extLst>
              <a:ext uri="{FF2B5EF4-FFF2-40B4-BE49-F238E27FC236}">
                <a16:creationId xmlns:a16="http://schemas.microsoft.com/office/drawing/2014/main" id="{9C319202-9FDD-D979-5FAF-9B7E7EA358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A1662D-B614-EBD7-A11A-4BA14EE58432}"/>
              </a:ext>
            </a:extLst>
          </p:cNvPr>
          <p:cNvSpPr>
            <a:spLocks noGrp="1"/>
          </p:cNvSpPr>
          <p:nvPr>
            <p:ph type="sldNum" sz="quarter" idx="12"/>
          </p:nvPr>
        </p:nvSpPr>
        <p:spPr/>
        <p:txBody>
          <a:bodyPr/>
          <a:lstStyle/>
          <a:p>
            <a:fld id="{0D878DC8-FEFF-4029-AA90-C8E5B8B0A54A}" type="slidenum">
              <a:rPr lang="en-US" smtClean="0"/>
              <a:t>‹#›</a:t>
            </a:fld>
            <a:endParaRPr lang="en-US"/>
          </a:p>
        </p:txBody>
      </p:sp>
    </p:spTree>
    <p:extLst>
      <p:ext uri="{BB962C8B-B14F-4D97-AF65-F5344CB8AC3E}">
        <p14:creationId xmlns:p14="http://schemas.microsoft.com/office/powerpoint/2010/main" val="3292113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E8D94-3AF4-5F4A-C706-067342A530D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D36FD4-DFCA-DA5E-F898-0AE9B3C6FCC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1D01C1-E5C6-A5F3-4256-397ABB9603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55C11EA-0709-9B3A-409F-E87A5D8E2341}"/>
              </a:ext>
            </a:extLst>
          </p:cNvPr>
          <p:cNvSpPr>
            <a:spLocks noGrp="1"/>
          </p:cNvSpPr>
          <p:nvPr>
            <p:ph type="dt" sz="half" idx="10"/>
          </p:nvPr>
        </p:nvSpPr>
        <p:spPr/>
        <p:txBody>
          <a:bodyPr/>
          <a:lstStyle/>
          <a:p>
            <a:fld id="{5BECB538-5B19-4911-A77A-302A45B2CB68}" type="datetimeFigureOut">
              <a:rPr lang="en-US" smtClean="0"/>
              <a:t>14/07/2026</a:t>
            </a:fld>
            <a:endParaRPr lang="en-US"/>
          </a:p>
        </p:txBody>
      </p:sp>
      <p:sp>
        <p:nvSpPr>
          <p:cNvPr id="6" name="Footer Placeholder 5">
            <a:extLst>
              <a:ext uri="{FF2B5EF4-FFF2-40B4-BE49-F238E27FC236}">
                <a16:creationId xmlns:a16="http://schemas.microsoft.com/office/drawing/2014/main" id="{C77B3513-FAF5-2F61-7096-7EDE7165C03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F55B64A-198A-F4EF-29F0-D0D0EE9427D7}"/>
              </a:ext>
            </a:extLst>
          </p:cNvPr>
          <p:cNvSpPr>
            <a:spLocks noGrp="1"/>
          </p:cNvSpPr>
          <p:nvPr>
            <p:ph type="sldNum" sz="quarter" idx="12"/>
          </p:nvPr>
        </p:nvSpPr>
        <p:spPr/>
        <p:txBody>
          <a:bodyPr/>
          <a:lstStyle/>
          <a:p>
            <a:fld id="{0D878DC8-FEFF-4029-AA90-C8E5B8B0A54A}" type="slidenum">
              <a:rPr lang="en-US" smtClean="0"/>
              <a:t>‹#›</a:t>
            </a:fld>
            <a:endParaRPr lang="en-US"/>
          </a:p>
        </p:txBody>
      </p:sp>
    </p:spTree>
    <p:extLst>
      <p:ext uri="{BB962C8B-B14F-4D97-AF65-F5344CB8AC3E}">
        <p14:creationId xmlns:p14="http://schemas.microsoft.com/office/powerpoint/2010/main" val="32253792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E3FD5-6C5B-350D-8AB0-0664FE319ED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E3843C6-989F-80C9-7B28-86A9D78186C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F7AC3B-D530-23BD-07E4-C4BA148EDA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B555671-0682-45A1-952C-C3316760B9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B883DDC-50AC-0FCE-FCBC-4A27B0726F3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FD6DF34-8010-23CE-DB9D-E40555D35EC6}"/>
              </a:ext>
            </a:extLst>
          </p:cNvPr>
          <p:cNvSpPr>
            <a:spLocks noGrp="1"/>
          </p:cNvSpPr>
          <p:nvPr>
            <p:ph type="dt" sz="half" idx="10"/>
          </p:nvPr>
        </p:nvSpPr>
        <p:spPr/>
        <p:txBody>
          <a:bodyPr/>
          <a:lstStyle/>
          <a:p>
            <a:fld id="{5BECB538-5B19-4911-A77A-302A45B2CB68}" type="datetimeFigureOut">
              <a:rPr lang="en-US" smtClean="0"/>
              <a:t>14/07/2026</a:t>
            </a:fld>
            <a:endParaRPr lang="en-US"/>
          </a:p>
        </p:txBody>
      </p:sp>
      <p:sp>
        <p:nvSpPr>
          <p:cNvPr id="8" name="Footer Placeholder 7">
            <a:extLst>
              <a:ext uri="{FF2B5EF4-FFF2-40B4-BE49-F238E27FC236}">
                <a16:creationId xmlns:a16="http://schemas.microsoft.com/office/drawing/2014/main" id="{F0B86197-0086-75AC-690D-1D3780FC9A9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5BB7CF-EC64-1972-5E99-838D69262D6A}"/>
              </a:ext>
            </a:extLst>
          </p:cNvPr>
          <p:cNvSpPr>
            <a:spLocks noGrp="1"/>
          </p:cNvSpPr>
          <p:nvPr>
            <p:ph type="sldNum" sz="quarter" idx="12"/>
          </p:nvPr>
        </p:nvSpPr>
        <p:spPr/>
        <p:txBody>
          <a:bodyPr/>
          <a:lstStyle/>
          <a:p>
            <a:fld id="{0D878DC8-FEFF-4029-AA90-C8E5B8B0A54A}" type="slidenum">
              <a:rPr lang="en-US" smtClean="0"/>
              <a:t>‹#›</a:t>
            </a:fld>
            <a:endParaRPr lang="en-US"/>
          </a:p>
        </p:txBody>
      </p:sp>
    </p:spTree>
    <p:extLst>
      <p:ext uri="{BB962C8B-B14F-4D97-AF65-F5344CB8AC3E}">
        <p14:creationId xmlns:p14="http://schemas.microsoft.com/office/powerpoint/2010/main" val="23507976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239DB3-554B-8C80-A901-BE9422F39A7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6FAF6F-DB6C-6BD5-8505-F2E1C95FA6DB}"/>
              </a:ext>
            </a:extLst>
          </p:cNvPr>
          <p:cNvSpPr>
            <a:spLocks noGrp="1"/>
          </p:cNvSpPr>
          <p:nvPr>
            <p:ph type="dt" sz="half" idx="10"/>
          </p:nvPr>
        </p:nvSpPr>
        <p:spPr/>
        <p:txBody>
          <a:bodyPr/>
          <a:lstStyle/>
          <a:p>
            <a:fld id="{5BECB538-5B19-4911-A77A-302A45B2CB68}" type="datetimeFigureOut">
              <a:rPr lang="en-US" smtClean="0"/>
              <a:t>14/07/2026</a:t>
            </a:fld>
            <a:endParaRPr lang="en-US"/>
          </a:p>
        </p:txBody>
      </p:sp>
      <p:sp>
        <p:nvSpPr>
          <p:cNvPr id="4" name="Footer Placeholder 3">
            <a:extLst>
              <a:ext uri="{FF2B5EF4-FFF2-40B4-BE49-F238E27FC236}">
                <a16:creationId xmlns:a16="http://schemas.microsoft.com/office/drawing/2014/main" id="{2AD5ED8F-2213-8B5D-86F6-82EBAD61D35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0E0493D-8E0A-92B5-1934-3F3D4D4EE977}"/>
              </a:ext>
            </a:extLst>
          </p:cNvPr>
          <p:cNvSpPr>
            <a:spLocks noGrp="1"/>
          </p:cNvSpPr>
          <p:nvPr>
            <p:ph type="sldNum" sz="quarter" idx="12"/>
          </p:nvPr>
        </p:nvSpPr>
        <p:spPr/>
        <p:txBody>
          <a:bodyPr/>
          <a:lstStyle/>
          <a:p>
            <a:fld id="{0D878DC8-FEFF-4029-AA90-C8E5B8B0A54A}" type="slidenum">
              <a:rPr lang="en-US" smtClean="0"/>
              <a:t>‹#›</a:t>
            </a:fld>
            <a:endParaRPr lang="en-US"/>
          </a:p>
        </p:txBody>
      </p:sp>
    </p:spTree>
    <p:extLst>
      <p:ext uri="{BB962C8B-B14F-4D97-AF65-F5344CB8AC3E}">
        <p14:creationId xmlns:p14="http://schemas.microsoft.com/office/powerpoint/2010/main" val="7512125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D45337C-4030-452D-D5EF-5B79E20597B6}"/>
              </a:ext>
            </a:extLst>
          </p:cNvPr>
          <p:cNvSpPr>
            <a:spLocks noGrp="1"/>
          </p:cNvSpPr>
          <p:nvPr>
            <p:ph type="dt" sz="half" idx="10"/>
          </p:nvPr>
        </p:nvSpPr>
        <p:spPr/>
        <p:txBody>
          <a:bodyPr/>
          <a:lstStyle/>
          <a:p>
            <a:fld id="{5BECB538-5B19-4911-A77A-302A45B2CB68}" type="datetimeFigureOut">
              <a:rPr lang="en-US" smtClean="0"/>
              <a:t>14/07/2026</a:t>
            </a:fld>
            <a:endParaRPr lang="en-US"/>
          </a:p>
        </p:txBody>
      </p:sp>
      <p:sp>
        <p:nvSpPr>
          <p:cNvPr id="3" name="Footer Placeholder 2">
            <a:extLst>
              <a:ext uri="{FF2B5EF4-FFF2-40B4-BE49-F238E27FC236}">
                <a16:creationId xmlns:a16="http://schemas.microsoft.com/office/drawing/2014/main" id="{2EE31BBF-ED80-7CFB-94B3-046B95391C88}"/>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A42DD8-3BA2-A733-99D6-6BC91B18C7A3}"/>
              </a:ext>
            </a:extLst>
          </p:cNvPr>
          <p:cNvSpPr>
            <a:spLocks noGrp="1"/>
          </p:cNvSpPr>
          <p:nvPr>
            <p:ph type="sldNum" sz="quarter" idx="12"/>
          </p:nvPr>
        </p:nvSpPr>
        <p:spPr/>
        <p:txBody>
          <a:bodyPr/>
          <a:lstStyle/>
          <a:p>
            <a:fld id="{0D878DC8-FEFF-4029-AA90-C8E5B8B0A54A}" type="slidenum">
              <a:rPr lang="en-US" smtClean="0"/>
              <a:t>‹#›</a:t>
            </a:fld>
            <a:endParaRPr lang="en-US"/>
          </a:p>
        </p:txBody>
      </p:sp>
    </p:spTree>
    <p:extLst>
      <p:ext uri="{BB962C8B-B14F-4D97-AF65-F5344CB8AC3E}">
        <p14:creationId xmlns:p14="http://schemas.microsoft.com/office/powerpoint/2010/main" val="35303100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E2B23-BFBC-8142-4739-AB21CA65E5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275CBBB-BD26-D31B-0162-FAE60F7018E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ABA0F9-C299-4858-1C92-7B8995D1FF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7611212-5280-D3D7-3B17-B6FE81B818CA}"/>
              </a:ext>
            </a:extLst>
          </p:cNvPr>
          <p:cNvSpPr>
            <a:spLocks noGrp="1"/>
          </p:cNvSpPr>
          <p:nvPr>
            <p:ph type="dt" sz="half" idx="10"/>
          </p:nvPr>
        </p:nvSpPr>
        <p:spPr/>
        <p:txBody>
          <a:bodyPr/>
          <a:lstStyle/>
          <a:p>
            <a:fld id="{5BECB538-5B19-4911-A77A-302A45B2CB68}" type="datetimeFigureOut">
              <a:rPr lang="en-US" smtClean="0"/>
              <a:t>14/07/2026</a:t>
            </a:fld>
            <a:endParaRPr lang="en-US"/>
          </a:p>
        </p:txBody>
      </p:sp>
      <p:sp>
        <p:nvSpPr>
          <p:cNvPr id="6" name="Footer Placeholder 5">
            <a:extLst>
              <a:ext uri="{FF2B5EF4-FFF2-40B4-BE49-F238E27FC236}">
                <a16:creationId xmlns:a16="http://schemas.microsoft.com/office/drawing/2014/main" id="{BE8D296A-648E-3920-B5BA-68461642FC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F3A733-2E23-AF13-20D0-200566EA0CB8}"/>
              </a:ext>
            </a:extLst>
          </p:cNvPr>
          <p:cNvSpPr>
            <a:spLocks noGrp="1"/>
          </p:cNvSpPr>
          <p:nvPr>
            <p:ph type="sldNum" sz="quarter" idx="12"/>
          </p:nvPr>
        </p:nvSpPr>
        <p:spPr/>
        <p:txBody>
          <a:bodyPr/>
          <a:lstStyle/>
          <a:p>
            <a:fld id="{0D878DC8-FEFF-4029-AA90-C8E5B8B0A54A}" type="slidenum">
              <a:rPr lang="en-US" smtClean="0"/>
              <a:t>‹#›</a:t>
            </a:fld>
            <a:endParaRPr lang="en-US"/>
          </a:p>
        </p:txBody>
      </p:sp>
    </p:spTree>
    <p:extLst>
      <p:ext uri="{BB962C8B-B14F-4D97-AF65-F5344CB8AC3E}">
        <p14:creationId xmlns:p14="http://schemas.microsoft.com/office/powerpoint/2010/main" val="1935099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E2096F-3843-F137-120F-6ADEDD7B8E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FFBEDF-7F76-9D88-4F7C-F73F520329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77D3757-E16B-39AC-931D-3BF60F5CA4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5BEBFD0-2922-0332-8948-C77F50F3F67C}"/>
              </a:ext>
            </a:extLst>
          </p:cNvPr>
          <p:cNvSpPr>
            <a:spLocks noGrp="1"/>
          </p:cNvSpPr>
          <p:nvPr>
            <p:ph type="dt" sz="half" idx="10"/>
          </p:nvPr>
        </p:nvSpPr>
        <p:spPr/>
        <p:txBody>
          <a:bodyPr/>
          <a:lstStyle/>
          <a:p>
            <a:fld id="{5BECB538-5B19-4911-A77A-302A45B2CB68}" type="datetimeFigureOut">
              <a:rPr lang="en-US" smtClean="0"/>
              <a:t>14/07/2026</a:t>
            </a:fld>
            <a:endParaRPr lang="en-US"/>
          </a:p>
        </p:txBody>
      </p:sp>
      <p:sp>
        <p:nvSpPr>
          <p:cNvPr id="6" name="Footer Placeholder 5">
            <a:extLst>
              <a:ext uri="{FF2B5EF4-FFF2-40B4-BE49-F238E27FC236}">
                <a16:creationId xmlns:a16="http://schemas.microsoft.com/office/drawing/2014/main" id="{AFD3AA44-E8B2-2B4F-DBD2-46DC21B5A18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8A9F7E6-0F75-870C-967D-7CCC38CA1C4A}"/>
              </a:ext>
            </a:extLst>
          </p:cNvPr>
          <p:cNvSpPr>
            <a:spLocks noGrp="1"/>
          </p:cNvSpPr>
          <p:nvPr>
            <p:ph type="sldNum" sz="quarter" idx="12"/>
          </p:nvPr>
        </p:nvSpPr>
        <p:spPr/>
        <p:txBody>
          <a:bodyPr/>
          <a:lstStyle/>
          <a:p>
            <a:fld id="{0D878DC8-FEFF-4029-AA90-C8E5B8B0A54A}" type="slidenum">
              <a:rPr lang="en-US" smtClean="0"/>
              <a:t>‹#›</a:t>
            </a:fld>
            <a:endParaRPr lang="en-US"/>
          </a:p>
        </p:txBody>
      </p:sp>
    </p:spTree>
    <p:extLst>
      <p:ext uri="{BB962C8B-B14F-4D97-AF65-F5344CB8AC3E}">
        <p14:creationId xmlns:p14="http://schemas.microsoft.com/office/powerpoint/2010/main" val="35259067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DC68A-0693-20D0-FFA1-9747FC20817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553407-30CB-FD09-61CC-DA0A68E579D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7F7EA4-B50B-5782-1046-0C1814F95547}"/>
              </a:ext>
            </a:extLst>
          </p:cNvPr>
          <p:cNvSpPr>
            <a:spLocks noGrp="1"/>
          </p:cNvSpPr>
          <p:nvPr>
            <p:ph type="dt" sz="half" idx="10"/>
          </p:nvPr>
        </p:nvSpPr>
        <p:spPr/>
        <p:txBody>
          <a:bodyPr/>
          <a:lstStyle/>
          <a:p>
            <a:fld id="{5BECB538-5B19-4911-A77A-302A45B2CB68}" type="datetimeFigureOut">
              <a:rPr lang="en-US" smtClean="0"/>
              <a:t>14/07/2026</a:t>
            </a:fld>
            <a:endParaRPr lang="en-US"/>
          </a:p>
        </p:txBody>
      </p:sp>
      <p:sp>
        <p:nvSpPr>
          <p:cNvPr id="5" name="Footer Placeholder 4">
            <a:extLst>
              <a:ext uri="{FF2B5EF4-FFF2-40B4-BE49-F238E27FC236}">
                <a16:creationId xmlns:a16="http://schemas.microsoft.com/office/drawing/2014/main" id="{1C07E8B2-5786-3D22-0ADE-DD1CDD7CD7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380BEA8-BBAD-7C44-6078-8F8FC44B72F2}"/>
              </a:ext>
            </a:extLst>
          </p:cNvPr>
          <p:cNvSpPr>
            <a:spLocks noGrp="1"/>
          </p:cNvSpPr>
          <p:nvPr>
            <p:ph type="sldNum" sz="quarter" idx="12"/>
          </p:nvPr>
        </p:nvSpPr>
        <p:spPr/>
        <p:txBody>
          <a:bodyPr/>
          <a:lstStyle/>
          <a:p>
            <a:fld id="{0D878DC8-FEFF-4029-AA90-C8E5B8B0A54A}" type="slidenum">
              <a:rPr lang="en-US" smtClean="0"/>
              <a:t>‹#›</a:t>
            </a:fld>
            <a:endParaRPr lang="en-US"/>
          </a:p>
        </p:txBody>
      </p:sp>
    </p:spTree>
    <p:extLst>
      <p:ext uri="{BB962C8B-B14F-4D97-AF65-F5344CB8AC3E}">
        <p14:creationId xmlns:p14="http://schemas.microsoft.com/office/powerpoint/2010/main" val="114505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37D820-438E-7639-D7EF-8B48094F8FF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D231C18-794A-AA0A-E47D-7F6EAE68C50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7DEC896-3678-CF4E-A11F-D832E7D4E209}"/>
              </a:ext>
            </a:extLst>
          </p:cNvPr>
          <p:cNvSpPr>
            <a:spLocks noGrp="1"/>
          </p:cNvSpPr>
          <p:nvPr>
            <p:ph type="dt" sz="half" idx="10"/>
          </p:nvPr>
        </p:nvSpPr>
        <p:spPr/>
        <p:txBody>
          <a:bodyPr/>
          <a:lstStyle/>
          <a:p>
            <a:fld id="{5BECB538-5B19-4911-A77A-302A45B2CB68}" type="datetimeFigureOut">
              <a:rPr lang="en-US" smtClean="0"/>
              <a:t>14/07/2026</a:t>
            </a:fld>
            <a:endParaRPr lang="en-US"/>
          </a:p>
        </p:txBody>
      </p:sp>
      <p:sp>
        <p:nvSpPr>
          <p:cNvPr id="5" name="Footer Placeholder 4">
            <a:extLst>
              <a:ext uri="{FF2B5EF4-FFF2-40B4-BE49-F238E27FC236}">
                <a16:creationId xmlns:a16="http://schemas.microsoft.com/office/drawing/2014/main" id="{C4D78120-7AD5-2395-54B9-17ADAB896F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55A405-C72C-3790-3D6C-4E2CAB955EBA}"/>
              </a:ext>
            </a:extLst>
          </p:cNvPr>
          <p:cNvSpPr>
            <a:spLocks noGrp="1"/>
          </p:cNvSpPr>
          <p:nvPr>
            <p:ph type="sldNum" sz="quarter" idx="12"/>
          </p:nvPr>
        </p:nvSpPr>
        <p:spPr/>
        <p:txBody>
          <a:bodyPr/>
          <a:lstStyle/>
          <a:p>
            <a:fld id="{0D878DC8-FEFF-4029-AA90-C8E5B8B0A54A}" type="slidenum">
              <a:rPr lang="en-US" smtClean="0"/>
              <a:t>‹#›</a:t>
            </a:fld>
            <a:endParaRPr lang="en-US"/>
          </a:p>
        </p:txBody>
      </p:sp>
    </p:spTree>
    <p:extLst>
      <p:ext uri="{BB962C8B-B14F-4D97-AF65-F5344CB8AC3E}">
        <p14:creationId xmlns:p14="http://schemas.microsoft.com/office/powerpoint/2010/main" val="13186101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13806CD-04FE-4EF4-DDDC-9AF7A5B75F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FA8C03-3992-3840-DF53-4BCB5C0115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3E50AC-F507-665E-4BC5-89205C21435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ECB538-5B19-4911-A77A-302A45B2CB68}" type="datetimeFigureOut">
              <a:rPr lang="en-US" smtClean="0"/>
              <a:t>14/07/2026</a:t>
            </a:fld>
            <a:endParaRPr lang="en-US"/>
          </a:p>
        </p:txBody>
      </p:sp>
      <p:sp>
        <p:nvSpPr>
          <p:cNvPr id="5" name="Footer Placeholder 4">
            <a:extLst>
              <a:ext uri="{FF2B5EF4-FFF2-40B4-BE49-F238E27FC236}">
                <a16:creationId xmlns:a16="http://schemas.microsoft.com/office/drawing/2014/main" id="{EE9C260D-618D-FC38-0684-FCEF3BF967F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3669F25-3B5F-976F-F231-BEA218B7F84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D878DC8-FEFF-4029-AA90-C8E5B8B0A54A}" type="slidenum">
              <a:rPr lang="en-US" smtClean="0"/>
              <a:t>‹#›</a:t>
            </a:fld>
            <a:endParaRPr lang="en-US"/>
          </a:p>
        </p:txBody>
      </p:sp>
    </p:spTree>
    <p:extLst>
      <p:ext uri="{BB962C8B-B14F-4D97-AF65-F5344CB8AC3E}">
        <p14:creationId xmlns:p14="http://schemas.microsoft.com/office/powerpoint/2010/main" val="13279996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BF97F9C6-B265-2D03-E798-241CF7CC882B}"/>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49A884FF-EDCD-EFB1-F044-66F86C9911D1}"/>
              </a:ext>
            </a:extLst>
          </p:cNvPr>
          <p:cNvSpPr txBox="1"/>
          <p:nvPr/>
        </p:nvSpPr>
        <p:spPr>
          <a:xfrm>
            <a:off x="1582310" y="1001864"/>
            <a:ext cx="7436075" cy="1754326"/>
          </a:xfrm>
          <a:prstGeom prst="rect">
            <a:avLst/>
          </a:prstGeom>
          <a:noFill/>
        </p:spPr>
        <p:txBody>
          <a:bodyPr wrap="none" rtlCol="0">
            <a:spAutoFit/>
          </a:bodyPr>
          <a:lstStyle/>
          <a:p>
            <a:pPr marL="285750" indent="-285750">
              <a:buFontTx/>
              <a:buChar char="-"/>
            </a:pPr>
            <a:r>
              <a:rPr lang="en-US" dirty="0"/>
              <a:t>TRƯỜNG CAO ĐẲNG CÔNG NGHỆ THÔNG TIN</a:t>
            </a:r>
          </a:p>
          <a:p>
            <a:pPr marL="285750" indent="-285750">
              <a:buFontTx/>
              <a:buChar char="-"/>
            </a:pPr>
            <a:r>
              <a:rPr lang="en-US" dirty="0"/>
              <a:t>ĐỒ ÁN MÔN HỌC: PHP2</a:t>
            </a:r>
          </a:p>
          <a:p>
            <a:pPr marL="285750" indent="-285750">
              <a:buFontTx/>
              <a:buChar char="-"/>
            </a:pPr>
            <a:r>
              <a:rPr lang="en-US" dirty="0" err="1"/>
              <a:t>NGÀNH: CÔNG NGHỆ THÔNG TIN</a:t>
            </a:r>
          </a:p>
          <a:p>
            <a:pPr marL="285750" indent="-285750">
              <a:buFontTx/>
              <a:buChar char="-"/>
            </a:pPr>
            <a:r>
              <a:rPr lang="en-US" dirty="0" err="1"/>
              <a:t>ĐỀ TÀI: WEBSITE QUẢN LÝ VÀ ĐĂNG TIN BẤT ĐỘNG SẢN - TIMNHADAT.SITE</a:t>
            </a:r>
            <a:endParaRPr lang="en-US" dirty="0"/>
          </a:p>
          <a:p>
            <a:pPr marL="285750" indent="-285750">
              <a:buFontTx/>
              <a:buChar char="-"/>
            </a:pPr>
            <a:r>
              <a:rPr lang="en-US" dirty="0"/>
              <a:t>Sinh viên thực hiện: TRẦN VĂN MINH CHÍ</a:t>
            </a:r>
          </a:p>
          <a:p>
            <a:pPr marL="285750" indent="-285750">
              <a:buFontTx/>
              <a:buChar char="-"/>
            </a:pPr>
            <a:r>
              <a:rPr lang="en-US" dirty="0"/>
              <a:t>GV </a:t>
            </a:r>
            <a:r>
              <a:rPr lang="en-US" dirty="0" err="1"/>
              <a:t>hướng</a:t>
            </a:r>
            <a:r>
              <a:rPr lang="en-US" dirty="0"/>
              <a:t> </a:t>
            </a:r>
            <a:r>
              <a:rPr lang="en-US" dirty="0" err="1"/>
              <a:t>dẫn</a:t>
            </a:r>
            <a:r>
              <a:rPr lang="en-US" dirty="0"/>
              <a:t>: </a:t>
            </a:r>
            <a:r>
              <a:rPr lang="en-US" dirty="0" err="1"/>
              <a:t>Ths</a:t>
            </a:r>
            <a:r>
              <a:rPr lang="en-US" dirty="0"/>
              <a:t>.</a:t>
            </a:r>
          </a:p>
        </p:txBody>
      </p:sp>
    </p:spTree>
    <p:extLst>
      <p:ext uri="{BB962C8B-B14F-4D97-AF65-F5344CB8AC3E}">
        <p14:creationId xmlns:p14="http://schemas.microsoft.com/office/powerpoint/2010/main" val="9267919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7CFC4-2FE1-8175-80C4-1D06BDF9218C}"/>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C99C061-85C5-C56E-4371-DFE32BF0B43F}"/>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0B1FB955-FEA8-1BCE-5636-2A6D252738A2}"/>
              </a:ext>
            </a:extLst>
          </p:cNvPr>
          <p:cNvSpPr txBox="1"/>
          <p:nvPr/>
        </p:nvSpPr>
        <p:spPr>
          <a:xfrm>
            <a:off x="1582310" y="1001864"/>
            <a:ext cx="2372252" cy="1477328"/>
          </a:xfrm>
          <a:prstGeom prst="rect">
            <a:avLst/>
          </a:prstGeom>
          <a:noFill/>
        </p:spPr>
        <p:txBody>
          <a:bodyPr wrap="none" rtlCol="0">
            <a:spAutoFit/>
          </a:bodyPr>
          <a:lstStyle/>
          <a:p>
            <a:r>
              <a:rPr lang="en-US" dirty="0"/>
              <a:t>Các phần cần trình bày</a:t>
            </a:r>
          </a:p>
          <a:p>
            <a:pPr marL="285750" indent="-285750">
              <a:buFontTx/>
              <a:buChar char="-"/>
            </a:pPr>
            <a:r>
              <a:rPr lang="en-US" dirty="0" err="1"/>
              <a:t>1. Tổng quan đề tài</a:t>
            </a:r>
            <a:endParaRPr lang="en-US" dirty="0"/>
          </a:p>
          <a:p>
            <a:pPr marL="285750" indent="-285750">
              <a:buFontTx/>
              <a:buChar char="-"/>
            </a:pPr>
            <a:r>
              <a:rPr lang="en-US" dirty="0" err="1"/>
              <a:t>2. Phân tích thiết kế</a:t>
            </a:r>
            <a:endParaRPr lang="en-US" dirty="0"/>
          </a:p>
          <a:p>
            <a:pPr marL="285750" indent="-285750">
              <a:buFontTx/>
              <a:buChar char="-"/>
            </a:pPr>
            <a:r>
              <a:rPr lang="en-US" dirty="0" err="1"/>
              <a:t>3. Cài đặt thực nghiệm</a:t>
            </a:r>
          </a:p>
          <a:p>
            <a:pPr marL="285750" indent="-285750">
              <a:buFontTx/>
              <a:buChar char="-"/>
            </a:pPr>
            <a:r>
              <a:rPr lang="en-US" dirty="0"/>
              <a:t>4. Kết luận &amp; Hướng phát triển</a:t>
            </a:r>
          </a:p>
        </p:txBody>
      </p:sp>
    </p:spTree>
    <p:extLst>
      <p:ext uri="{BB962C8B-B14F-4D97-AF65-F5344CB8AC3E}">
        <p14:creationId xmlns:p14="http://schemas.microsoft.com/office/powerpoint/2010/main" val="1675328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B20A4-6EC3-E216-C2E2-28611181313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CF71E7F-7018-E623-3A06-59BD7BA1BBE3}"/>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2218BE55-7014-DFBF-8C6E-188B97B12F15}"/>
              </a:ext>
            </a:extLst>
          </p:cNvPr>
          <p:cNvSpPr txBox="1"/>
          <p:nvPr/>
        </p:nvSpPr>
        <p:spPr>
          <a:xfrm>
            <a:off x="1582310" y="1001864"/>
            <a:ext cx="2424062" cy="1200329"/>
          </a:xfrm>
          <a:prstGeom prst="rect">
            <a:avLst/>
          </a:prstGeom>
          <a:noFill/>
        </p:spPr>
        <p:txBody>
          <a:bodyPr wrap="none" rtlCol="0">
            <a:spAutoFit/>
          </a:bodyPr>
          <a:lstStyle/>
          <a:p>
            <a:pPr marL="285750" indent="-285750">
              <a:buFontTx/>
              <a:buChar char="-"/>
            </a:pPr>
            <a:r>
              <a:rPr lang="en-US" dirty="0" err="1"/>
              <a:t>Tổng quan đề tài</a:t>
            </a:r>
            <a:endParaRPr lang="en-US" dirty="0"/>
          </a:p>
          <a:p>
            <a:pPr marL="285750" indent="-285750">
              <a:buFontTx/>
              <a:buChar char="-"/>
            </a:pPr>
            <a:r>
              <a:rPr lang="en-US" dirty="0" err="1"/>
              <a:t>• Mục tiêu: Tạo sàn giao dịch BĐS sạch, tiện lợi, tự động hóa và tích hợp AI.</a:t>
            </a:r>
            <a:endParaRPr lang="en-US" dirty="0"/>
          </a:p>
          <a:p>
            <a:pPr marL="285750" indent="-285750">
              <a:buFontTx/>
              <a:buChar char="-"/>
            </a:pPr>
            <a:r>
              <a:rPr lang="en-US" dirty="0"/>
              <a:t>• Nội dung: Phát triển 3 phân hệ Khách vãng lai, Thành viên và Quản trị viên.</a:t>
            </a:r>
          </a:p>
          <a:p>
            <a:pPr marL="285750" indent="-285750">
              <a:buFontTx/>
              <a:buChar char="-"/>
            </a:pPr>
            <a:r>
              <a:rPr lang="en-US" dirty="0" err="1"/>
              <a:t>• Công nghệ: PHP MVC &amp; Laravel, MySQL, cổng thanh toán PayOS và Gemini AI API.</a:t>
            </a:r>
            <a:endParaRPr lang="en-US" dirty="0"/>
          </a:p>
          <a:p>
            <a:r>
              <a:t>• Phần mềm: Laragon, VS Code, HeidiSQL, Git/GitHub.</a:t>
            </a:r>
          </a:p>
        </p:txBody>
      </p:sp>
    </p:spTree>
    <p:extLst>
      <p:ext uri="{BB962C8B-B14F-4D97-AF65-F5344CB8AC3E}">
        <p14:creationId xmlns:p14="http://schemas.microsoft.com/office/powerpoint/2010/main" val="13860552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D1BAC8-021D-1C35-7CA0-4B225D5177D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38EFF5D-2FF8-3B32-BA61-E4442D979200}"/>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6C80959F-F1F4-42EF-E3F9-B6A4C27EBCEC}"/>
              </a:ext>
            </a:extLst>
          </p:cNvPr>
          <p:cNvSpPr txBox="1"/>
          <p:nvPr/>
        </p:nvSpPr>
        <p:spPr>
          <a:xfrm>
            <a:off x="1582310" y="1001864"/>
            <a:ext cx="1864806" cy="369332"/>
          </a:xfrm>
          <a:prstGeom prst="rect">
            <a:avLst/>
          </a:prstGeom>
          <a:noFill/>
        </p:spPr>
        <p:txBody>
          <a:bodyPr wrap="none" rtlCol="0">
            <a:spAutoFit/>
          </a:bodyPr>
          <a:lstStyle/>
          <a:p>
            <a:pPr marL="285750" indent="-285750">
              <a:buFontTx/>
              <a:buChar char="-"/>
            </a:pPr>
            <a:r>
              <a:rPr lang="en-US" dirty="0"/>
              <a:t>Mục tiêu đề tài</a:t>
            </a:r>
          </a:p>
          <a:p>
            <a:r>
              <a:t>• Trực quan hóa dữ liệu: Giúp khách hàng lọc và tìm kiếm nhà đất theo nhu cầu nhanh chóng.</a:t>
            </a:r>
          </a:p>
          <a:p>
            <a:r>
              <a:t>• Tự động hóa thanh toán: Sử dụng PayOS giúp nạp ví, mua lượt UP, mua gói VIP 24/7 tức thì.</a:t>
            </a:r>
          </a:p>
          <a:p>
            <a:r>
              <a:t>• Tư vấn thông minh: Ứng dụng Gemini AI hỗ trợ tư vấn thông tin dự án, pháp lý, phong thủy.</a:t>
            </a:r>
          </a:p>
        </p:txBody>
      </p:sp>
    </p:spTree>
    <p:extLst>
      <p:ext uri="{BB962C8B-B14F-4D97-AF65-F5344CB8AC3E}">
        <p14:creationId xmlns:p14="http://schemas.microsoft.com/office/powerpoint/2010/main" val="31880640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E3318-9629-F972-9583-CEFC6BAFA0C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150B6D17-BC89-56CF-0493-5DCE47F2CF43}"/>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9A3A30AA-12E0-26D4-90C8-2C810407FEFC}"/>
              </a:ext>
            </a:extLst>
          </p:cNvPr>
          <p:cNvSpPr txBox="1"/>
          <p:nvPr/>
        </p:nvSpPr>
        <p:spPr>
          <a:xfrm>
            <a:off x="1582310" y="1001864"/>
            <a:ext cx="1864806" cy="369332"/>
          </a:xfrm>
          <a:prstGeom prst="rect">
            <a:avLst/>
          </a:prstGeom>
          <a:noFill/>
        </p:spPr>
        <p:txBody>
          <a:bodyPr wrap="none" rtlCol="0">
            <a:spAutoFit/>
          </a:bodyPr>
          <a:lstStyle/>
          <a:p>
            <a:pPr marL="285750" indent="-285750">
              <a:buFontTx/>
              <a:buChar char="-"/>
            </a:pPr>
            <a:r>
              <a:rPr lang="en-US" dirty="0"/>
              <a:t>Nội dung đề tài</a:t>
            </a:r>
          </a:p>
          <a:p>
            <a:r>
              <a:t>• Phân hệ Thành viên: Đăng tin BĐS (Thường &amp; VIP), ví điện tử, quản lý tin qua Popup tiện lợi.</a:t>
            </a:r>
          </a:p>
          <a:p>
            <a:r>
              <a:t>• Phân hệ Admin: Quản lý tin đăng, phê duyệt nhanh, quản lý CRM tư vấn và ví thành viên.</a:t>
            </a:r>
          </a:p>
          <a:p>
            <a:r>
              <a:t>• Báo cáo doanh thu: Xuất báo cáo Excel/PDF định dạng chuẩn doanh nghiệp có phần trình ký.</a:t>
            </a:r>
          </a:p>
        </p:txBody>
      </p:sp>
    </p:spTree>
    <p:extLst>
      <p:ext uri="{BB962C8B-B14F-4D97-AF65-F5344CB8AC3E}">
        <p14:creationId xmlns:p14="http://schemas.microsoft.com/office/powerpoint/2010/main" val="27763638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F3818-6345-9FCD-D62C-A9479FE95AED}"/>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A1E5AB8-ADE5-DE34-B668-17D0E7D71110}"/>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216E77B1-6D04-BF7D-21B4-25B366BF0D37}"/>
              </a:ext>
            </a:extLst>
          </p:cNvPr>
          <p:cNvSpPr txBox="1"/>
          <p:nvPr/>
        </p:nvSpPr>
        <p:spPr>
          <a:xfrm>
            <a:off x="1582310" y="1001864"/>
            <a:ext cx="8831585" cy="1477328"/>
          </a:xfrm>
          <a:prstGeom prst="rect">
            <a:avLst/>
          </a:prstGeom>
          <a:noFill/>
        </p:spPr>
        <p:txBody>
          <a:bodyPr wrap="none" rtlCol="0">
            <a:spAutoFit/>
          </a:bodyPr>
          <a:lstStyle/>
          <a:p>
            <a:pPr marL="285750" indent="-285750">
              <a:buFontTx/>
              <a:buChar char="-"/>
            </a:pPr>
            <a:r>
              <a:rPr lang="en-US" dirty="0"/>
              <a:t>Công nghệ thực hiện</a:t>
            </a:r>
          </a:p>
          <a:p>
            <a:r>
              <a:rPr dirty="0"/>
              <a:t>• Backend: PHP MVC  Laravel </a:t>
            </a:r>
            <a:r>
              <a:rPr lang="en-US" dirty="0"/>
              <a:t>code </a:t>
            </a:r>
            <a:r>
              <a:rPr lang="en-US" dirty="0" err="1"/>
              <a:t>theo</a:t>
            </a:r>
            <a:r>
              <a:rPr lang="en-US" dirty="0"/>
              <a:t> </a:t>
            </a:r>
            <a:r>
              <a:rPr lang="en-US" dirty="0" err="1"/>
              <a:t>hướng</a:t>
            </a:r>
            <a:r>
              <a:rPr lang="en-US" dirty="0"/>
              <a:t> </a:t>
            </a:r>
            <a:r>
              <a:rPr lang="en-US" dirty="0" err="1"/>
              <a:t>đối</a:t>
            </a:r>
            <a:r>
              <a:rPr lang="en-US" dirty="0"/>
              <a:t> </a:t>
            </a:r>
            <a:r>
              <a:rPr lang="en-US" dirty="0" err="1"/>
              <a:t>tượng</a:t>
            </a:r>
            <a:r>
              <a:rPr dirty="0"/>
              <a:t>.</a:t>
            </a:r>
          </a:p>
          <a:p>
            <a:r>
              <a:rPr dirty="0"/>
              <a:t>• Frontend: Blade Template, HTML5, CSS3, JavaScript </a:t>
            </a:r>
            <a:r>
              <a:rPr dirty="0" err="1"/>
              <a:t>thuần</a:t>
            </a:r>
            <a:r>
              <a:rPr dirty="0"/>
              <a:t>, </a:t>
            </a:r>
            <a:r>
              <a:rPr dirty="0" err="1"/>
              <a:t>tối</a:t>
            </a:r>
            <a:r>
              <a:rPr dirty="0"/>
              <a:t> </a:t>
            </a:r>
            <a:r>
              <a:rPr dirty="0" err="1"/>
              <a:t>ưu</a:t>
            </a:r>
            <a:r>
              <a:rPr dirty="0"/>
              <a:t> </a:t>
            </a:r>
            <a:r>
              <a:rPr dirty="0" err="1"/>
              <a:t>tài</a:t>
            </a:r>
            <a:r>
              <a:rPr dirty="0"/>
              <a:t> </a:t>
            </a:r>
            <a:r>
              <a:rPr dirty="0" err="1"/>
              <a:t>nguyên</a:t>
            </a:r>
            <a:r>
              <a:rPr dirty="0"/>
              <a:t> </a:t>
            </a:r>
            <a:r>
              <a:rPr dirty="0" err="1"/>
              <a:t>với</a:t>
            </a:r>
            <a:r>
              <a:rPr dirty="0"/>
              <a:t> Vite.</a:t>
            </a:r>
          </a:p>
          <a:p>
            <a:r>
              <a:rPr dirty="0"/>
              <a:t>• </a:t>
            </a:r>
            <a:r>
              <a:rPr dirty="0" err="1"/>
              <a:t>Cơ</a:t>
            </a:r>
            <a:r>
              <a:rPr dirty="0"/>
              <a:t> </a:t>
            </a:r>
            <a:r>
              <a:rPr dirty="0" err="1"/>
              <a:t>sở</a:t>
            </a:r>
            <a:r>
              <a:rPr dirty="0"/>
              <a:t> </a:t>
            </a:r>
            <a:r>
              <a:rPr dirty="0" err="1"/>
              <a:t>dữ</a:t>
            </a:r>
            <a:r>
              <a:rPr dirty="0"/>
              <a:t> </a:t>
            </a:r>
            <a:r>
              <a:rPr dirty="0" err="1"/>
              <a:t>liệu</a:t>
            </a:r>
            <a:r>
              <a:rPr dirty="0"/>
              <a:t>: MySQL, </a:t>
            </a:r>
            <a:r>
              <a:rPr dirty="0" err="1"/>
              <a:t>sử</a:t>
            </a:r>
            <a:r>
              <a:rPr dirty="0"/>
              <a:t> </a:t>
            </a:r>
            <a:r>
              <a:rPr dirty="0" err="1"/>
              <a:t>dụng</a:t>
            </a:r>
            <a:r>
              <a:rPr dirty="0"/>
              <a:t> Transaction </a:t>
            </a:r>
            <a:r>
              <a:rPr dirty="0" err="1"/>
              <a:t>xử</a:t>
            </a:r>
            <a:r>
              <a:rPr dirty="0"/>
              <a:t> </a:t>
            </a:r>
            <a:r>
              <a:rPr dirty="0" err="1"/>
              <a:t>lý</a:t>
            </a:r>
            <a:r>
              <a:rPr dirty="0"/>
              <a:t> </a:t>
            </a:r>
            <a:r>
              <a:rPr dirty="0" err="1"/>
              <a:t>giao</a:t>
            </a:r>
            <a:r>
              <a:rPr dirty="0"/>
              <a:t> </a:t>
            </a:r>
            <a:r>
              <a:rPr dirty="0" err="1"/>
              <a:t>dịch</a:t>
            </a:r>
            <a:r>
              <a:rPr dirty="0"/>
              <a:t> </a:t>
            </a:r>
            <a:r>
              <a:rPr dirty="0" err="1"/>
              <a:t>nạp</a:t>
            </a:r>
            <a:r>
              <a:rPr dirty="0"/>
              <a:t> </a:t>
            </a:r>
            <a:r>
              <a:rPr dirty="0" err="1"/>
              <a:t>tiền</a:t>
            </a:r>
            <a:r>
              <a:rPr dirty="0"/>
              <a:t>, </a:t>
            </a:r>
            <a:r>
              <a:rPr dirty="0" err="1"/>
              <a:t>trừ</a:t>
            </a:r>
            <a:r>
              <a:rPr dirty="0"/>
              <a:t> </a:t>
            </a:r>
            <a:r>
              <a:rPr dirty="0" err="1"/>
              <a:t>lượt</a:t>
            </a:r>
            <a:r>
              <a:rPr dirty="0"/>
              <a:t> UP an </a:t>
            </a:r>
            <a:r>
              <a:rPr dirty="0" err="1"/>
              <a:t>toàn</a:t>
            </a:r>
            <a:r>
              <a:rPr dirty="0"/>
              <a:t>.</a:t>
            </a:r>
          </a:p>
          <a:p>
            <a:r>
              <a:rPr dirty="0"/>
              <a:t>• </a:t>
            </a:r>
            <a:r>
              <a:rPr dirty="0" err="1"/>
              <a:t>Tích</a:t>
            </a:r>
            <a:r>
              <a:rPr dirty="0"/>
              <a:t> </a:t>
            </a:r>
            <a:r>
              <a:rPr dirty="0" err="1"/>
              <a:t>hợp</a:t>
            </a:r>
            <a:r>
              <a:rPr dirty="0"/>
              <a:t> APIs: </a:t>
            </a:r>
            <a:r>
              <a:rPr dirty="0" err="1"/>
              <a:t>Cổng</a:t>
            </a:r>
            <a:r>
              <a:rPr dirty="0"/>
              <a:t> </a:t>
            </a:r>
            <a:r>
              <a:rPr dirty="0" err="1"/>
              <a:t>thanh</a:t>
            </a:r>
            <a:r>
              <a:rPr dirty="0"/>
              <a:t> </a:t>
            </a:r>
            <a:r>
              <a:rPr dirty="0" err="1"/>
              <a:t>toán</a:t>
            </a:r>
            <a:r>
              <a:rPr dirty="0"/>
              <a:t> </a:t>
            </a:r>
            <a:r>
              <a:rPr dirty="0" err="1"/>
              <a:t>PayOS</a:t>
            </a:r>
            <a:r>
              <a:rPr dirty="0"/>
              <a:t> &amp; Google Gemini API (model gemini-2.5-flash).</a:t>
            </a:r>
          </a:p>
        </p:txBody>
      </p:sp>
    </p:spTree>
    <p:extLst>
      <p:ext uri="{BB962C8B-B14F-4D97-AF65-F5344CB8AC3E}">
        <p14:creationId xmlns:p14="http://schemas.microsoft.com/office/powerpoint/2010/main" val="1469405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347EDD-AA21-DD75-195D-92CE7D69DA3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5E128867-444C-E365-D4B4-B5629511BA18}"/>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C3A1FE12-8636-33AD-4220-23CC3D5D1017}"/>
              </a:ext>
            </a:extLst>
          </p:cNvPr>
          <p:cNvSpPr txBox="1"/>
          <p:nvPr/>
        </p:nvSpPr>
        <p:spPr>
          <a:xfrm>
            <a:off x="1582310" y="1001864"/>
            <a:ext cx="2863476" cy="369332"/>
          </a:xfrm>
          <a:prstGeom prst="rect">
            <a:avLst/>
          </a:prstGeom>
          <a:noFill/>
        </p:spPr>
        <p:txBody>
          <a:bodyPr wrap="none" rtlCol="0">
            <a:spAutoFit/>
          </a:bodyPr>
          <a:lstStyle/>
          <a:p>
            <a:pPr marL="285750" indent="-285750">
              <a:buFontTx/>
              <a:buChar char="-"/>
            </a:pPr>
            <a:r>
              <a:rPr lang="en-US" dirty="0"/>
              <a:t>Phần mềm sử dụng</a:t>
            </a:r>
          </a:p>
          <a:p>
            <a:r>
              <a:t>• Laragon (Apache, MySQL): Máy chủ local ổn định, chạy ứng dụng nhanh và mượt mà.</a:t>
            </a:r>
          </a:p>
          <a:p>
            <a:r>
              <a:t>• HeidiSQL: Quản trị database trực quan, hỗ trợ import/export SQL nhanh chóng.</a:t>
            </a:r>
          </a:p>
          <a:p>
            <a:r>
              <a:t>• VS Code: Trình soạn thảo chính, hỗ trợ debug và quản lý source code hiệu quả.</a:t>
            </a:r>
          </a:p>
          <a:p>
            <a:r>
              <a:t>• Git &amp; GitHub: Quản lý phiên bản và lưu trữ mã nguồn trực tuyến.</a:t>
            </a:r>
          </a:p>
        </p:txBody>
      </p:sp>
    </p:spTree>
    <p:extLst>
      <p:ext uri="{BB962C8B-B14F-4D97-AF65-F5344CB8AC3E}">
        <p14:creationId xmlns:p14="http://schemas.microsoft.com/office/powerpoint/2010/main" val="28605316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8EAA3-68B0-F55D-25A4-CA8DEC087F62}"/>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F5C033D2-E244-7690-9EB4-7DEE682A739D}"/>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9ADB784C-CBA3-1B8C-C1CB-33D9526F025E}"/>
              </a:ext>
            </a:extLst>
          </p:cNvPr>
          <p:cNvSpPr txBox="1"/>
          <p:nvPr/>
        </p:nvSpPr>
        <p:spPr>
          <a:xfrm>
            <a:off x="1582310" y="1001864"/>
            <a:ext cx="2866490" cy="1200329"/>
          </a:xfrm>
          <a:prstGeom prst="rect">
            <a:avLst/>
          </a:prstGeom>
          <a:noFill/>
        </p:spPr>
        <p:txBody>
          <a:bodyPr wrap="none" rtlCol="0">
            <a:spAutoFit/>
          </a:bodyPr>
          <a:lstStyle/>
          <a:p>
            <a:pPr marL="285750" indent="-285750">
              <a:buFontTx/>
              <a:buChar char="-"/>
            </a:pPr>
            <a:r>
              <a:rPr lang="en-US" dirty="0" err="1"/>
              <a:t>Phân tích thiết kế hệ thống</a:t>
            </a:r>
            <a:endParaRPr lang="en-US" dirty="0"/>
          </a:p>
          <a:p>
            <a:r>
              <a:rPr lang="en-US" dirty="0"/>
              <a:t>• Quy trình nghiệp vụ: Thiết kế luồng đăng ký OTP, nạp tiền ví, mua lượt UP, duyệt tin BĐS.</a:t>
            </a:r>
          </a:p>
          <a:p>
            <a:r>
              <a:rPr lang="en-US" dirty="0"/>
              <a:t>• Các chức năng hoặc phân hệ: Phân tách rõ ràng quyền hạn của Guest, Member và Admin.</a:t>
            </a:r>
          </a:p>
          <a:p>
            <a:r>
              <a:rPr lang="en-US" dirty="0"/>
              <a:t>• Biểu đồ Use case: Xây dựng sơ đồ tương tác chi tiết giữa các Actor và hệ thống.</a:t>
            </a:r>
          </a:p>
        </p:txBody>
      </p:sp>
    </p:spTree>
    <p:extLst>
      <p:ext uri="{BB962C8B-B14F-4D97-AF65-F5344CB8AC3E}">
        <p14:creationId xmlns:p14="http://schemas.microsoft.com/office/powerpoint/2010/main" val="3445041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4EFE1-B2C3-0F60-01D5-E5ADA1772DD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61CCB3A0-D78C-9D4A-3D60-9231CC592055}"/>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91D4843B-7D1C-F5DE-1238-90641763BDC9}"/>
              </a:ext>
            </a:extLst>
          </p:cNvPr>
          <p:cNvSpPr txBox="1"/>
          <p:nvPr/>
        </p:nvSpPr>
        <p:spPr>
          <a:xfrm>
            <a:off x="1582310" y="1001864"/>
            <a:ext cx="1895262" cy="369332"/>
          </a:xfrm>
          <a:prstGeom prst="rect">
            <a:avLst/>
          </a:prstGeom>
          <a:noFill/>
        </p:spPr>
        <p:txBody>
          <a:bodyPr wrap="none" rtlCol="0">
            <a:spAutoFit/>
          </a:bodyPr>
          <a:lstStyle/>
          <a:p>
            <a:pPr marL="285750" indent="-285750">
              <a:buFontTx/>
              <a:buChar char="-"/>
            </a:pPr>
            <a:r>
              <a:rPr lang="en-US" dirty="0"/>
              <a:t>Quy trình nghiệp vụ cốt lõi</a:t>
            </a:r>
          </a:p>
          <a:p>
            <a:r>
              <a:t>• Luồng Đăng tin &amp; Chọn VIP: Người dùng nhập thông tin -&gt; chọn gói VIP -&gt; hệ thống tự động kiểm tra số dư và trừ phí từ ví điện tử.</a:t>
            </a:r>
          </a:p>
          <a:p>
            <a:r>
              <a:t>• Luồng UP tin (Làm mới): Kiểm tra điều kiện -&gt; trừ 1 lượt UP -&gt; cập nhật ngày làm mới -&gt; đẩy tin lên đầu trang công khai.</a:t>
            </a:r>
          </a:p>
          <a:p>
            <a:r>
              <a:t>• Luồng OTP xác thực: Popup OTP dùng chung cho cả đăng ký tài khoản mới và quên mật khẩu.</a:t>
            </a:r>
          </a:p>
        </p:txBody>
      </p:sp>
    </p:spTree>
    <p:extLst>
      <p:ext uri="{BB962C8B-B14F-4D97-AF65-F5344CB8AC3E}">
        <p14:creationId xmlns:p14="http://schemas.microsoft.com/office/powerpoint/2010/main" val="7762441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6D7E4-7867-9ADA-081F-6B6BE0E22D25}"/>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B982B706-B6CA-F9B6-A34B-891C1CBEDFF1}"/>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B4C272D2-1257-0F29-9EEB-683509C1CF3F}"/>
              </a:ext>
            </a:extLst>
          </p:cNvPr>
          <p:cNvSpPr txBox="1"/>
          <p:nvPr/>
        </p:nvSpPr>
        <p:spPr>
          <a:xfrm>
            <a:off x="1582310" y="1001864"/>
            <a:ext cx="3695114" cy="369332"/>
          </a:xfrm>
          <a:prstGeom prst="rect">
            <a:avLst/>
          </a:prstGeom>
          <a:noFill/>
        </p:spPr>
        <p:txBody>
          <a:bodyPr wrap="none" rtlCol="0">
            <a:spAutoFit/>
          </a:bodyPr>
          <a:lstStyle/>
          <a:p>
            <a:pPr marL="285750" indent="-285750">
              <a:buFontTx/>
              <a:buChar char="-"/>
            </a:pPr>
            <a:r>
              <a:rPr lang="en-US" dirty="0"/>
              <a:t>Các chức năng hoặc phân hệ</a:t>
            </a:r>
          </a:p>
          <a:p>
            <a:r>
              <a:t>• Ví điện tử &amp; PayOS: Tạo mã QR nạp tiền tự động, quét QR và cập nhật số dư ví tức thì.</a:t>
            </a:r>
          </a:p>
          <a:p>
            <a:r>
              <a:t>• Popup thao tác nhanh: Quản lý tin đăng (chỉnh sửa, ẩn/hiện, UP, gia hạn VIP) chỉ bằng 1 chạm.</a:t>
            </a:r>
          </a:p>
          <a:p>
            <a:r>
              <a:t>• Báo cáo &amp; CRM: Admin phê duyệt tin nhanh, quản lý yêu cầu CRM, xuất báo cáo doanh thu PDF/Excel.</a:t>
            </a:r>
          </a:p>
        </p:txBody>
      </p:sp>
    </p:spTree>
    <p:extLst>
      <p:ext uri="{BB962C8B-B14F-4D97-AF65-F5344CB8AC3E}">
        <p14:creationId xmlns:p14="http://schemas.microsoft.com/office/powerpoint/2010/main" val="3468763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94732-3213-2C5E-322A-57FB1105CE7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0F7E220-85B5-7A42-D0DF-232D007CA8D1}"/>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819BE2B3-03E5-A33D-2C25-11308FB3326F}"/>
              </a:ext>
            </a:extLst>
          </p:cNvPr>
          <p:cNvSpPr txBox="1"/>
          <p:nvPr/>
        </p:nvSpPr>
        <p:spPr>
          <a:xfrm>
            <a:off x="1582310" y="1001864"/>
            <a:ext cx="1779526" cy="369332"/>
          </a:xfrm>
          <a:prstGeom prst="rect">
            <a:avLst/>
          </a:prstGeom>
          <a:noFill/>
        </p:spPr>
        <p:txBody>
          <a:bodyPr wrap="none" rtlCol="0">
            <a:spAutoFit/>
          </a:bodyPr>
          <a:lstStyle/>
          <a:p>
            <a:pPr marL="285750" indent="-285750">
              <a:buFontTx/>
              <a:buChar char="-"/>
            </a:pPr>
            <a:r>
              <a:rPr lang="en-US" dirty="0"/>
              <a:t>Biểu đồ Usecase hệ thống</a:t>
            </a:r>
          </a:p>
          <a:p>
            <a:r>
              <a:t>• Actor Guest: Tìm kiếm tin BĐS, gửi yêu cầu tư vấn CRM, chat với Gemini AI Chatbot.</a:t>
            </a:r>
          </a:p>
          <a:p>
            <a:r>
              <a:t>• Actor Member: Quản lý profile, xác thực OTP, nạp tiền ví, mua lượt UP, đăng tin và chọn gói VIP.</a:t>
            </a:r>
          </a:p>
          <a:p>
            <a:r>
              <a:t>• Actor Admin: Quản trị tổng thể, duyệt tin đăng, cấu hình hệ thống, xuất báo cáo và quản lý ví.</a:t>
            </a:r>
          </a:p>
        </p:txBody>
      </p:sp>
    </p:spTree>
    <p:extLst>
      <p:ext uri="{BB962C8B-B14F-4D97-AF65-F5344CB8AC3E}">
        <p14:creationId xmlns:p14="http://schemas.microsoft.com/office/powerpoint/2010/main" val="73758405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9C21FF-4EC2-5D09-04E3-58BF9B1B415F}"/>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94E126FA-38B6-4862-348F-7A9AB967297F}"/>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A314FA60-0C04-8D0E-B165-3195C04D2B21}"/>
              </a:ext>
            </a:extLst>
          </p:cNvPr>
          <p:cNvSpPr txBox="1"/>
          <p:nvPr/>
        </p:nvSpPr>
        <p:spPr>
          <a:xfrm>
            <a:off x="1582310" y="1001864"/>
            <a:ext cx="1352743" cy="923330"/>
          </a:xfrm>
          <a:prstGeom prst="rect">
            <a:avLst/>
          </a:prstGeom>
          <a:noFill/>
        </p:spPr>
        <p:txBody>
          <a:bodyPr wrap="none" rtlCol="0">
            <a:spAutoFit/>
          </a:bodyPr>
          <a:lstStyle/>
          <a:p>
            <a:r>
              <a:rPr lang="en-US" dirty="0" err="1"/>
              <a:t>Kết luận đồ án</a:t>
            </a:r>
            <a:endParaRPr lang="en-US" dirty="0"/>
          </a:p>
          <a:p>
            <a:pPr marL="285750" indent="-285750">
              <a:buFontTx/>
              <a:buChar char="-"/>
            </a:pPr>
            <a:r>
              <a:rPr lang="en-US" dirty="0"/>
              <a:t>• Đạt được: Sản phẩm hoàn thiện, giao diện mượt mà, tích hợp thanh toán và AI thật 100%.</a:t>
            </a:r>
          </a:p>
          <a:p>
            <a:pPr marL="285750" indent="-285750">
              <a:buFontTx/>
              <a:buChar char="-"/>
            </a:pPr>
            <a:r>
              <a:rPr lang="en-US" dirty="0" err="1"/>
              <a:t>• Hạn chế: Việc chạy song song PHP MVC và Laravel cần quản lý kỹ; cần đồng bộ thuật toán sắp xếp tin.</a:t>
            </a:r>
            <a:endParaRPr lang="en-US" dirty="0"/>
          </a:p>
          <a:p>
            <a:r>
              <a:rPr dirty="0"/>
              <a:t>• </a:t>
            </a:r>
            <a:r>
              <a:rPr dirty="0" err="1"/>
              <a:t>Hướng</a:t>
            </a:r>
            <a:r>
              <a:rPr dirty="0"/>
              <a:t> </a:t>
            </a:r>
            <a:r>
              <a:rPr dirty="0" err="1"/>
              <a:t>phát</a:t>
            </a:r>
            <a:r>
              <a:rPr dirty="0"/>
              <a:t> </a:t>
            </a:r>
            <a:r>
              <a:rPr dirty="0" err="1"/>
              <a:t>triển</a:t>
            </a:r>
            <a:r>
              <a:rPr dirty="0"/>
              <a:t>: </a:t>
            </a:r>
            <a:r>
              <a:rPr dirty="0" err="1"/>
              <a:t>Chuyển</a:t>
            </a:r>
            <a:r>
              <a:rPr dirty="0"/>
              <a:t> </a:t>
            </a:r>
            <a:r>
              <a:rPr dirty="0" err="1"/>
              <a:t>đổi</a:t>
            </a:r>
            <a:r>
              <a:rPr dirty="0"/>
              <a:t> 100% sang Laravel, </a:t>
            </a:r>
            <a:r>
              <a:rPr dirty="0" err="1"/>
              <a:t>làm</a:t>
            </a:r>
            <a:r>
              <a:rPr dirty="0"/>
              <a:t> Mobile App </a:t>
            </a:r>
            <a:r>
              <a:rPr dirty="0" err="1"/>
              <a:t>tích</a:t>
            </a:r>
            <a:r>
              <a:rPr dirty="0"/>
              <a:t> </a:t>
            </a:r>
            <a:r>
              <a:rPr dirty="0" err="1"/>
              <a:t>hợp</a:t>
            </a:r>
            <a:r>
              <a:rPr dirty="0"/>
              <a:t> </a:t>
            </a:r>
            <a:r>
              <a:rPr dirty="0" err="1"/>
              <a:t>định</a:t>
            </a:r>
            <a:r>
              <a:rPr dirty="0"/>
              <a:t> </a:t>
            </a:r>
            <a:r>
              <a:rPr dirty="0" err="1"/>
              <a:t>vị</a:t>
            </a:r>
            <a:r>
              <a:rPr dirty="0"/>
              <a:t> GPS </a:t>
            </a:r>
            <a:r>
              <a:rPr dirty="0" err="1"/>
              <a:t>tìm</a:t>
            </a:r>
            <a:r>
              <a:rPr dirty="0"/>
              <a:t> BĐS.</a:t>
            </a:r>
          </a:p>
        </p:txBody>
      </p:sp>
    </p:spTree>
    <p:extLst>
      <p:ext uri="{BB962C8B-B14F-4D97-AF65-F5344CB8AC3E}">
        <p14:creationId xmlns:p14="http://schemas.microsoft.com/office/powerpoint/2010/main" val="4853043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E5ED85-E146-F66C-2D44-814B6A854216}"/>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EF3EE5E5-31FD-AECB-7395-5CC19AD956E5}"/>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5C6F2AC0-0019-63F7-E5AF-6EB3094E85DA}"/>
              </a:ext>
            </a:extLst>
          </p:cNvPr>
          <p:cNvSpPr txBox="1"/>
          <p:nvPr/>
        </p:nvSpPr>
        <p:spPr>
          <a:xfrm>
            <a:off x="1582310" y="1001864"/>
            <a:ext cx="1614224" cy="369332"/>
          </a:xfrm>
          <a:prstGeom prst="rect">
            <a:avLst/>
          </a:prstGeom>
          <a:noFill/>
        </p:spPr>
        <p:txBody>
          <a:bodyPr wrap="none" rtlCol="0">
            <a:spAutoFit/>
          </a:bodyPr>
          <a:lstStyle/>
          <a:p>
            <a:r>
              <a:rPr lang="en-US" dirty="0"/>
              <a:t>Kết quả đạt được</a:t>
            </a:r>
          </a:p>
          <a:p>
            <a:r>
              <a:t>• Hệ thống chạy thực nghiệm tốt trên môi trường local, giao diện tối ưu hóa trải nghiệm người dùng.</a:t>
            </a:r>
          </a:p>
          <a:p>
            <a:r>
              <a:t>• Tích hợp chatbot AI thông minh đóng vai trò tư vấn viên chuyên nghiệp cho TimNhaDat.site.</a:t>
            </a:r>
          </a:p>
          <a:p>
            <a:r>
              <a:t>• Giao dịch ví điện tử thông qua cổng PayOS diễn ra hoàn toàn tự động, nhanh chóng và chính xác.</a:t>
            </a:r>
          </a:p>
        </p:txBody>
      </p:sp>
    </p:spTree>
    <p:extLst>
      <p:ext uri="{BB962C8B-B14F-4D97-AF65-F5344CB8AC3E}">
        <p14:creationId xmlns:p14="http://schemas.microsoft.com/office/powerpoint/2010/main" val="112601912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9AE6B-0F5E-9315-AE7F-C92411379B17}"/>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A3B421C2-5AF1-E362-E1C9-1AC616847377}"/>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37D621A7-176D-3D00-75DB-59A8D08E03F9}"/>
              </a:ext>
            </a:extLst>
          </p:cNvPr>
          <p:cNvSpPr txBox="1"/>
          <p:nvPr/>
        </p:nvSpPr>
        <p:spPr>
          <a:xfrm>
            <a:off x="1582310" y="1001864"/>
            <a:ext cx="1494512" cy="369332"/>
          </a:xfrm>
          <a:prstGeom prst="rect">
            <a:avLst/>
          </a:prstGeom>
          <a:noFill/>
        </p:spPr>
        <p:txBody>
          <a:bodyPr wrap="none" rtlCol="0">
            <a:spAutoFit/>
          </a:bodyPr>
          <a:lstStyle/>
          <a:p>
            <a:r>
              <a:rPr lang="en-US" dirty="0"/>
              <a:t>Hạn chế còn tồn tại</a:t>
            </a:r>
          </a:p>
          <a:p>
            <a:r>
              <a:rPr dirty="0"/>
              <a:t>• </a:t>
            </a:r>
            <a:r>
              <a:rPr dirty="0" err="1"/>
              <a:t>Chưa</a:t>
            </a:r>
            <a:r>
              <a:rPr dirty="0"/>
              <a:t> </a:t>
            </a:r>
            <a:r>
              <a:rPr dirty="0" err="1"/>
              <a:t>tích</a:t>
            </a:r>
            <a:r>
              <a:rPr dirty="0"/>
              <a:t> </a:t>
            </a:r>
            <a:r>
              <a:rPr dirty="0" err="1"/>
              <a:t>hợp</a:t>
            </a:r>
            <a:r>
              <a:rPr dirty="0"/>
              <a:t> </a:t>
            </a:r>
            <a:r>
              <a:rPr dirty="0" err="1"/>
              <a:t>đẩy</a:t>
            </a:r>
            <a:r>
              <a:rPr dirty="0"/>
              <a:t> </a:t>
            </a:r>
            <a:r>
              <a:rPr dirty="0" err="1"/>
              <a:t>thông</a:t>
            </a:r>
            <a:r>
              <a:rPr dirty="0"/>
              <a:t> </a:t>
            </a:r>
            <a:r>
              <a:rPr dirty="0" err="1"/>
              <a:t>báo</a:t>
            </a:r>
            <a:r>
              <a:rPr dirty="0"/>
              <a:t> </a:t>
            </a:r>
            <a:r>
              <a:rPr dirty="0" err="1"/>
              <a:t>thời</a:t>
            </a:r>
            <a:r>
              <a:rPr dirty="0"/>
              <a:t> </a:t>
            </a:r>
            <a:r>
              <a:rPr dirty="0" err="1"/>
              <a:t>gian</a:t>
            </a:r>
            <a:r>
              <a:rPr dirty="0"/>
              <a:t> </a:t>
            </a:r>
            <a:r>
              <a:rPr dirty="0" err="1"/>
              <a:t>thực</a:t>
            </a:r>
            <a:r>
              <a:rPr dirty="0"/>
              <a:t> </a:t>
            </a:r>
            <a:r>
              <a:rPr dirty="0" err="1"/>
              <a:t>trực</a:t>
            </a:r>
            <a:r>
              <a:rPr dirty="0"/>
              <a:t> </a:t>
            </a:r>
            <a:r>
              <a:rPr dirty="0" err="1"/>
              <a:t>tiếp</a:t>
            </a:r>
            <a:r>
              <a:rPr dirty="0"/>
              <a:t> </a:t>
            </a:r>
            <a:r>
              <a:rPr dirty="0" err="1"/>
              <a:t>trên</a:t>
            </a:r>
            <a:r>
              <a:rPr dirty="0"/>
              <a:t> </a:t>
            </a:r>
            <a:r>
              <a:rPr dirty="0" err="1"/>
              <a:t>màn</a:t>
            </a:r>
            <a:r>
              <a:rPr dirty="0"/>
              <a:t> </a:t>
            </a:r>
            <a:r>
              <a:rPr dirty="0" err="1"/>
              <a:t>hình</a:t>
            </a:r>
            <a:r>
              <a:rPr dirty="0"/>
              <a:t> </a:t>
            </a:r>
            <a:r>
              <a:rPr dirty="0" err="1"/>
              <a:t>thiết</a:t>
            </a:r>
            <a:r>
              <a:rPr dirty="0"/>
              <a:t> </a:t>
            </a:r>
            <a:r>
              <a:rPr dirty="0" err="1"/>
              <a:t>bị</a:t>
            </a:r>
            <a:r>
              <a:rPr dirty="0"/>
              <a:t> (Web Push Notification).</a:t>
            </a:r>
          </a:p>
          <a:p>
            <a:r>
              <a:rPr dirty="0"/>
              <a:t>• </a:t>
            </a:r>
            <a:r>
              <a:rPr dirty="0" err="1"/>
              <a:t>Việc</a:t>
            </a:r>
            <a:r>
              <a:rPr dirty="0"/>
              <a:t> </a:t>
            </a:r>
            <a:r>
              <a:rPr dirty="0" err="1"/>
              <a:t>đồng</a:t>
            </a:r>
            <a:r>
              <a:rPr dirty="0"/>
              <a:t> </a:t>
            </a:r>
            <a:r>
              <a:rPr dirty="0" err="1"/>
              <a:t>bộ</a:t>
            </a:r>
            <a:r>
              <a:rPr dirty="0"/>
              <a:t> </a:t>
            </a:r>
            <a:r>
              <a:rPr dirty="0" err="1"/>
              <a:t>hóa</a:t>
            </a:r>
            <a:r>
              <a:rPr dirty="0"/>
              <a:t> session </a:t>
            </a:r>
            <a:r>
              <a:rPr dirty="0" err="1"/>
              <a:t>và</a:t>
            </a:r>
            <a:r>
              <a:rPr dirty="0"/>
              <a:t> database </a:t>
            </a:r>
            <a:r>
              <a:rPr dirty="0" err="1"/>
              <a:t>giữa</a:t>
            </a:r>
            <a:r>
              <a:rPr dirty="0"/>
              <a:t> module legacy PHP MVC </a:t>
            </a:r>
            <a:r>
              <a:rPr dirty="0" err="1"/>
              <a:t>và</a:t>
            </a:r>
            <a:r>
              <a:rPr dirty="0"/>
              <a:t> module Laravel </a:t>
            </a:r>
            <a:r>
              <a:rPr dirty="0" err="1"/>
              <a:t>mới</a:t>
            </a:r>
            <a:r>
              <a:rPr dirty="0"/>
              <a:t> </a:t>
            </a:r>
            <a:r>
              <a:rPr dirty="0" err="1"/>
              <a:t>cần</a:t>
            </a:r>
            <a:r>
              <a:rPr dirty="0"/>
              <a:t> </a:t>
            </a:r>
            <a:r>
              <a:rPr dirty="0" err="1"/>
              <a:t>kiểm</a:t>
            </a:r>
            <a:r>
              <a:rPr dirty="0"/>
              <a:t> </a:t>
            </a:r>
            <a:r>
              <a:rPr dirty="0" err="1"/>
              <a:t>soát</a:t>
            </a:r>
            <a:r>
              <a:rPr dirty="0"/>
              <a:t> </a:t>
            </a:r>
            <a:r>
              <a:rPr dirty="0" err="1"/>
              <a:t>chặt</a:t>
            </a:r>
            <a:r>
              <a:rPr dirty="0"/>
              <a:t> </a:t>
            </a:r>
            <a:r>
              <a:rPr dirty="0" err="1"/>
              <a:t>chẽ</a:t>
            </a:r>
            <a:r>
              <a:rPr dirty="0"/>
              <a:t>.</a:t>
            </a:r>
          </a:p>
        </p:txBody>
      </p:sp>
    </p:spTree>
    <p:extLst>
      <p:ext uri="{BB962C8B-B14F-4D97-AF65-F5344CB8AC3E}">
        <p14:creationId xmlns:p14="http://schemas.microsoft.com/office/powerpoint/2010/main" val="40966990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03915-1F02-61BE-F3BB-C5CEF28A999E}"/>
            </a:ext>
          </a:extLst>
        </p:cNvPr>
        <p:cNvGrpSpPr/>
        <p:nvPr/>
      </p:nvGrpSpPr>
      <p:grpSpPr>
        <a:xfrm>
          <a:off x="0" y="0"/>
          <a:ext cx="0" cy="0"/>
          <a:chOff x="0" y="0"/>
          <a:chExt cx="0" cy="0"/>
        </a:xfrm>
      </p:grpSpPr>
      <p:sp>
        <p:nvSpPr>
          <p:cNvPr id="3" name="Subtitle 2">
            <a:extLst>
              <a:ext uri="{FF2B5EF4-FFF2-40B4-BE49-F238E27FC236}">
                <a16:creationId xmlns:a16="http://schemas.microsoft.com/office/drawing/2014/main" id="{4D4BBB1B-7911-1912-6656-1A415E4531F6}"/>
              </a:ext>
            </a:extLst>
          </p:cNvPr>
          <p:cNvSpPr>
            <a:spLocks noGrp="1"/>
          </p:cNvSpPr>
          <p:nvPr>
            <p:ph type="subTitle" idx="1"/>
          </p:nvPr>
        </p:nvSpPr>
        <p:spPr/>
        <p:txBody>
          <a:bodyPr/>
          <a:lstStyle/>
          <a:p>
            <a:r>
              <a:rPr lang="en-US" dirty="0"/>
              <a:t>-</a:t>
            </a:r>
          </a:p>
        </p:txBody>
      </p:sp>
      <p:sp>
        <p:nvSpPr>
          <p:cNvPr id="4" name="TextBox 3">
            <a:extLst>
              <a:ext uri="{FF2B5EF4-FFF2-40B4-BE49-F238E27FC236}">
                <a16:creationId xmlns:a16="http://schemas.microsoft.com/office/drawing/2014/main" id="{623A6936-1172-D98D-F655-A50BD4283A60}"/>
              </a:ext>
            </a:extLst>
          </p:cNvPr>
          <p:cNvSpPr txBox="1"/>
          <p:nvPr/>
        </p:nvSpPr>
        <p:spPr>
          <a:xfrm>
            <a:off x="1582310" y="1001864"/>
            <a:ext cx="9863021" cy="923330"/>
          </a:xfrm>
          <a:prstGeom prst="rect">
            <a:avLst/>
          </a:prstGeom>
          <a:noFill/>
        </p:spPr>
        <p:txBody>
          <a:bodyPr wrap="none" rtlCol="0">
            <a:spAutoFit/>
          </a:bodyPr>
          <a:lstStyle/>
          <a:p>
            <a:r>
              <a:rPr lang="en-US" dirty="0"/>
              <a:t>Hướng phát triển tương lai</a:t>
            </a:r>
          </a:p>
          <a:p>
            <a:r>
              <a:rPr dirty="0"/>
              <a:t>• </a:t>
            </a:r>
            <a:r>
              <a:rPr dirty="0" err="1"/>
              <a:t>Nâng</a:t>
            </a:r>
            <a:r>
              <a:rPr dirty="0"/>
              <a:t> </a:t>
            </a:r>
            <a:r>
              <a:rPr dirty="0" err="1"/>
              <a:t>cấp</a:t>
            </a:r>
            <a:r>
              <a:rPr dirty="0"/>
              <a:t> AI chatbot </a:t>
            </a:r>
            <a:r>
              <a:rPr dirty="0" err="1"/>
              <a:t>để</a:t>
            </a:r>
            <a:r>
              <a:rPr dirty="0"/>
              <a:t> </a:t>
            </a:r>
            <a:r>
              <a:rPr dirty="0" err="1"/>
              <a:t>tự</a:t>
            </a:r>
            <a:r>
              <a:rPr dirty="0"/>
              <a:t> </a:t>
            </a:r>
            <a:r>
              <a:rPr dirty="0" err="1"/>
              <a:t>động</a:t>
            </a:r>
            <a:r>
              <a:rPr dirty="0"/>
              <a:t> </a:t>
            </a:r>
            <a:r>
              <a:rPr dirty="0" err="1"/>
              <a:t>gợi</a:t>
            </a:r>
            <a:r>
              <a:rPr dirty="0"/>
              <a:t> ý </a:t>
            </a:r>
            <a:r>
              <a:rPr dirty="0" err="1"/>
              <a:t>các</a:t>
            </a:r>
            <a:r>
              <a:rPr dirty="0"/>
              <a:t> tin </a:t>
            </a:r>
            <a:r>
              <a:rPr dirty="0" err="1"/>
              <a:t>đăng</a:t>
            </a:r>
            <a:r>
              <a:rPr dirty="0"/>
              <a:t> </a:t>
            </a:r>
            <a:r>
              <a:rPr dirty="0" err="1"/>
              <a:t>bất</a:t>
            </a:r>
            <a:r>
              <a:rPr dirty="0"/>
              <a:t> </a:t>
            </a:r>
            <a:r>
              <a:rPr dirty="0" err="1"/>
              <a:t>động</a:t>
            </a:r>
            <a:r>
              <a:rPr dirty="0"/>
              <a:t> </a:t>
            </a:r>
            <a:r>
              <a:rPr dirty="0" err="1"/>
              <a:t>sản</a:t>
            </a:r>
            <a:r>
              <a:rPr dirty="0"/>
              <a:t> </a:t>
            </a:r>
            <a:r>
              <a:rPr dirty="0" err="1"/>
              <a:t>phù</a:t>
            </a:r>
            <a:r>
              <a:rPr dirty="0"/>
              <a:t> </a:t>
            </a:r>
            <a:r>
              <a:rPr dirty="0" err="1"/>
              <a:t>hợp</a:t>
            </a:r>
            <a:r>
              <a:rPr dirty="0"/>
              <a:t> </a:t>
            </a:r>
            <a:r>
              <a:rPr dirty="0" err="1"/>
              <a:t>với</a:t>
            </a:r>
            <a:r>
              <a:rPr dirty="0"/>
              <a:t> </a:t>
            </a:r>
            <a:r>
              <a:rPr dirty="0" err="1"/>
              <a:t>sở</a:t>
            </a:r>
            <a:r>
              <a:rPr dirty="0"/>
              <a:t> </a:t>
            </a:r>
            <a:r>
              <a:rPr dirty="0" err="1"/>
              <a:t>thích</a:t>
            </a:r>
            <a:r>
              <a:rPr dirty="0"/>
              <a:t> </a:t>
            </a:r>
            <a:r>
              <a:rPr dirty="0" err="1"/>
              <a:t>của</a:t>
            </a:r>
            <a:r>
              <a:rPr dirty="0"/>
              <a:t> </a:t>
            </a:r>
            <a:r>
              <a:rPr dirty="0" err="1"/>
              <a:t>người</a:t>
            </a:r>
            <a:r>
              <a:rPr dirty="0"/>
              <a:t> </a:t>
            </a:r>
            <a:r>
              <a:rPr dirty="0" err="1"/>
              <a:t>dùng</a:t>
            </a:r>
            <a:r>
              <a:rPr dirty="0"/>
              <a:t>.</a:t>
            </a:r>
          </a:p>
          <a:p>
            <a:r>
              <a:rPr dirty="0"/>
              <a:t>• </a:t>
            </a:r>
            <a:r>
              <a:rPr dirty="0" err="1"/>
              <a:t>Phát</a:t>
            </a:r>
            <a:r>
              <a:rPr dirty="0"/>
              <a:t> </a:t>
            </a:r>
            <a:r>
              <a:rPr dirty="0" err="1"/>
              <a:t>triển</a:t>
            </a:r>
            <a:r>
              <a:rPr dirty="0"/>
              <a:t> </a:t>
            </a:r>
            <a:r>
              <a:rPr dirty="0" err="1"/>
              <a:t>ứng</a:t>
            </a:r>
            <a:r>
              <a:rPr dirty="0"/>
              <a:t> </a:t>
            </a:r>
            <a:r>
              <a:rPr dirty="0" err="1"/>
              <a:t>dụng</a:t>
            </a:r>
            <a:r>
              <a:rPr dirty="0"/>
              <a:t> di </a:t>
            </a:r>
            <a:r>
              <a:rPr dirty="0" err="1"/>
              <a:t>động</a:t>
            </a:r>
            <a:r>
              <a:rPr dirty="0"/>
              <a:t> </a:t>
            </a:r>
            <a:r>
              <a:rPr dirty="0" err="1"/>
              <a:t>đa</a:t>
            </a:r>
            <a:r>
              <a:rPr dirty="0"/>
              <a:t> </a:t>
            </a:r>
            <a:r>
              <a:rPr dirty="0" err="1"/>
              <a:t>nền</a:t>
            </a:r>
            <a:r>
              <a:rPr dirty="0"/>
              <a:t> </a:t>
            </a:r>
            <a:r>
              <a:rPr dirty="0" err="1"/>
              <a:t>tảng</a:t>
            </a:r>
            <a:r>
              <a:rPr dirty="0"/>
              <a:t> </a:t>
            </a:r>
            <a:r>
              <a:rPr dirty="0" err="1"/>
              <a:t>để</a:t>
            </a:r>
            <a:r>
              <a:rPr dirty="0"/>
              <a:t> </a:t>
            </a:r>
            <a:r>
              <a:rPr dirty="0" err="1"/>
              <a:t>tăng</a:t>
            </a:r>
            <a:r>
              <a:rPr dirty="0"/>
              <a:t> </a:t>
            </a:r>
            <a:r>
              <a:rPr dirty="0" err="1"/>
              <a:t>tính</a:t>
            </a:r>
            <a:r>
              <a:rPr dirty="0"/>
              <a:t> </a:t>
            </a:r>
            <a:r>
              <a:rPr dirty="0" err="1"/>
              <a:t>tiện</a:t>
            </a:r>
            <a:r>
              <a:rPr dirty="0"/>
              <a:t> </a:t>
            </a:r>
            <a:r>
              <a:rPr dirty="0" err="1"/>
              <a:t>dụng</a:t>
            </a:r>
            <a:r>
              <a:rPr dirty="0"/>
              <a:t> </a:t>
            </a:r>
            <a:r>
              <a:rPr dirty="0" err="1"/>
              <a:t>và</a:t>
            </a:r>
            <a:r>
              <a:rPr dirty="0"/>
              <a:t> </a:t>
            </a:r>
            <a:r>
              <a:rPr dirty="0" err="1"/>
              <a:t>độ</a:t>
            </a:r>
            <a:r>
              <a:rPr dirty="0"/>
              <a:t> </a:t>
            </a:r>
            <a:r>
              <a:rPr dirty="0" err="1"/>
              <a:t>phủ</a:t>
            </a:r>
            <a:r>
              <a:rPr dirty="0"/>
              <a:t> </a:t>
            </a:r>
            <a:r>
              <a:rPr dirty="0" err="1"/>
              <a:t>thương</a:t>
            </a:r>
            <a:r>
              <a:rPr dirty="0"/>
              <a:t> </a:t>
            </a:r>
            <a:r>
              <a:rPr dirty="0" err="1"/>
              <a:t>hiệu</a:t>
            </a:r>
            <a:r>
              <a:rPr dirty="0"/>
              <a:t>.</a:t>
            </a:r>
          </a:p>
        </p:txBody>
      </p:sp>
    </p:spTree>
    <p:extLst>
      <p:ext uri="{BB962C8B-B14F-4D97-AF65-F5344CB8AC3E}">
        <p14:creationId xmlns:p14="http://schemas.microsoft.com/office/powerpoint/2010/main" val="37010338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1907</Words>
  <Application>Microsoft Office PowerPoint</Application>
  <PresentationFormat>Widescreen</PresentationFormat>
  <Paragraphs>94</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Huynh Luan</dc:creator>
  <cp:lastModifiedBy>Trần Chí</cp:lastModifiedBy>
  <cp:revision>2</cp:revision>
  <dcterms:created xsi:type="dcterms:W3CDTF">2026-07-06T00:08:54Z</dcterms:created>
  <dcterms:modified xsi:type="dcterms:W3CDTF">2026-07-14T13:37:45Z</dcterms:modified>
</cp:coreProperties>
</file>